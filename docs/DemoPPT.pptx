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354" y="-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385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19672"/>
            <a:ext cx="11183112" cy="0"/>
          </a:xfrm>
          <a:prstGeom prst="line">
            <a:avLst/>
          </a:prstGeom>
          <a:noFill/>
          <a:ln w="8890">
            <a:solidFill>
              <a:srgbClr val="DCE3E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84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84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394192" y="-475488"/>
            <a:ext cx="4343400" cy="4343400"/>
          </a:xfrm>
          <a:prstGeom prst="ellipse">
            <a:avLst/>
          </a:prstGeom>
          <a:solidFill>
            <a:srgbClr val="0D1930">
              <a:alpha val="0"/>
            </a:srgbClr>
          </a:solidFill>
          <a:ln w="15240">
            <a:solidFill>
              <a:srgbClr val="20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052560" y="219456"/>
            <a:ext cx="3063240" cy="3063240"/>
          </a:xfrm>
          <a:prstGeom prst="ellipse">
            <a:avLst/>
          </a:prstGeom>
          <a:solidFill>
            <a:srgbClr val="0D1930">
              <a:alpha val="0"/>
            </a:srgbClr>
          </a:solidFill>
          <a:ln w="15240">
            <a:solidFill>
              <a:srgbClr val="2C47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646920" y="832104"/>
            <a:ext cx="1874520" cy="1874520"/>
          </a:xfrm>
          <a:prstGeom prst="ellipse">
            <a:avLst/>
          </a:prstGeom>
          <a:solidFill>
            <a:srgbClr val="0D1930">
              <a:alpha val="0"/>
            </a:srgbClr>
          </a:solidFill>
          <a:ln w="20320">
            <a:solidFill>
              <a:srgbClr val="76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13232" y="6583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30" dirty="0">
                <a:solidFill>
                  <a:srgbClr val="9E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JOURNEY  /  TECHNICAL DEMO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252728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&amp; Application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Journey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761488"/>
            <a:ext cx="6949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C8D5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Scala, Apache Wicket &amp; PL/SQL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31012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98A9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concepts to a practical Metro UFM demo application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5074920"/>
            <a:ext cx="1609344" cy="576072"/>
          </a:xfrm>
          <a:prstGeom prst="roundRect">
            <a:avLst>
              <a:gd name="adj" fmla="val 20635"/>
            </a:avLst>
          </a:prstGeom>
          <a:solidFill>
            <a:srgbClr val="172944"/>
          </a:solidFill>
          <a:ln w="10160">
            <a:solidFill>
              <a:srgbClr val="3042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04672" y="523951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5358384"/>
            <a:ext cx="320040" cy="0"/>
          </a:xfrm>
          <a:prstGeom prst="line">
            <a:avLst/>
          </a:prstGeom>
          <a:noFill/>
          <a:ln w="21590">
            <a:solidFill>
              <a:srgbClr val="6689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862072" y="5074920"/>
            <a:ext cx="1609344" cy="576072"/>
          </a:xfrm>
          <a:prstGeom prst="roundRect">
            <a:avLst>
              <a:gd name="adj" fmla="val 20635"/>
            </a:avLst>
          </a:prstGeom>
          <a:solidFill>
            <a:srgbClr val="172944"/>
          </a:solidFill>
          <a:ln w="10160">
            <a:solidFill>
              <a:srgbClr val="3042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2916936" y="523951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35424" y="5358384"/>
            <a:ext cx="320040" cy="0"/>
          </a:xfrm>
          <a:prstGeom prst="line">
            <a:avLst/>
          </a:prstGeom>
          <a:noFill/>
          <a:ln w="21590">
            <a:solidFill>
              <a:srgbClr val="6689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974336" y="5074920"/>
            <a:ext cx="1609344" cy="576072"/>
          </a:xfrm>
          <a:prstGeom prst="roundRect">
            <a:avLst>
              <a:gd name="adj" fmla="val 20635"/>
            </a:avLst>
          </a:prstGeom>
          <a:solidFill>
            <a:srgbClr val="172944"/>
          </a:solidFill>
          <a:ln w="10160">
            <a:solidFill>
              <a:srgbClr val="3042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029200" y="523951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47688" y="5358384"/>
            <a:ext cx="320040" cy="0"/>
          </a:xfrm>
          <a:prstGeom prst="line">
            <a:avLst/>
          </a:prstGeom>
          <a:noFill/>
          <a:ln w="21590">
            <a:solidFill>
              <a:srgbClr val="6689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086600" y="5074920"/>
            <a:ext cx="1609344" cy="576072"/>
          </a:xfrm>
          <a:prstGeom prst="roundRect">
            <a:avLst>
              <a:gd name="adj" fmla="val 20635"/>
            </a:avLst>
          </a:prstGeom>
          <a:solidFill>
            <a:srgbClr val="172944"/>
          </a:solidFill>
          <a:ln w="10160">
            <a:solidFill>
              <a:srgbClr val="3042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7141464" y="523951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759952" y="5358384"/>
            <a:ext cx="320040" cy="0"/>
          </a:xfrm>
          <a:prstGeom prst="line">
            <a:avLst/>
          </a:prstGeom>
          <a:noFill/>
          <a:ln w="21590">
            <a:solidFill>
              <a:srgbClr val="7656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198864" y="5074920"/>
            <a:ext cx="1609344" cy="576072"/>
          </a:xfrm>
          <a:prstGeom prst="roundRect">
            <a:avLst>
              <a:gd name="adj" fmla="val 20635"/>
            </a:avLst>
          </a:prstGeom>
          <a:solidFill>
            <a:srgbClr val="2B2751"/>
          </a:solidFill>
          <a:ln w="10160">
            <a:solidFill>
              <a:srgbClr val="3042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9253728" y="523951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CBB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607040" y="6309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89B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12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9B9FC79-7DC2-A90D-52E4-F6E4D62EB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72" y="560814"/>
            <a:ext cx="365792" cy="4145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PURPOSE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 &amp; Technology stack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69848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learning path: framework skills applied through a small enterprise-style demo.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572768"/>
            <a:ext cx="5138928" cy="585216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86384" y="1719072"/>
            <a:ext cx="292608" cy="292608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86384" y="1728216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25296" y="1719072"/>
            <a:ext cx="4315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 for application development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" y="2322576"/>
            <a:ext cx="5138928" cy="585216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86384" y="2468880"/>
            <a:ext cx="292608" cy="292608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86384" y="2478024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25296" y="2468880"/>
            <a:ext cx="4315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Wicket server-side web development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" y="3072384"/>
            <a:ext cx="5138928" cy="585216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86384" y="3218688"/>
            <a:ext cx="292608" cy="292608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86384" y="3227832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25296" y="3218688"/>
            <a:ext cx="4315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PL/SQL and database-side programming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" y="3822192"/>
            <a:ext cx="5138928" cy="585216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86384" y="3968496"/>
            <a:ext cx="292608" cy="292608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786384" y="3977640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25296" y="3968496"/>
            <a:ext cx="4315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concepts in a practical application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4572000"/>
            <a:ext cx="5138928" cy="585216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86384" y="4718304"/>
            <a:ext cx="292608" cy="292608"/>
          </a:xfrm>
          <a:prstGeom prst="ellipse">
            <a:avLst/>
          </a:prstGeom>
          <a:solidFill>
            <a:srgbClr val="7656DB"/>
          </a:solidFill>
          <a:ln w="12700">
            <a:solidFill>
              <a:srgbClr val="7656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786384" y="4727448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225296" y="4718304"/>
            <a:ext cx="4315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enterprise application structure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36208" y="151790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36208" y="1883664"/>
            <a:ext cx="2395728" cy="777240"/>
          </a:xfrm>
          <a:prstGeom prst="roundRect">
            <a:avLst>
              <a:gd name="adj" fmla="val 15294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373368" y="2048256"/>
            <a:ext cx="429768" cy="429768"/>
          </a:xfrm>
          <a:prstGeom prst="roundRect">
            <a:avLst>
              <a:gd name="adj" fmla="val 25532"/>
            </a:avLst>
          </a:prstGeom>
          <a:solidFill>
            <a:srgbClr val="EAF0FF"/>
          </a:solidFill>
          <a:ln w="10160">
            <a:solidFill>
              <a:srgbClr val="EAF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373368" y="2103120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12864" y="2039112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912864" y="2350008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7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851392" y="1883664"/>
            <a:ext cx="2395728" cy="777240"/>
          </a:xfrm>
          <a:prstGeom prst="roundRect">
            <a:avLst>
              <a:gd name="adj" fmla="val 15294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988552" y="2048256"/>
            <a:ext cx="429768" cy="429768"/>
          </a:xfrm>
          <a:prstGeom prst="roundRect">
            <a:avLst>
              <a:gd name="adj" fmla="val 25532"/>
            </a:avLst>
          </a:prstGeom>
          <a:solidFill>
            <a:srgbClr val="F0ECFF"/>
          </a:solidFill>
          <a:ln w="10160">
            <a:solidFill>
              <a:srgbClr val="F0E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8988552" y="2103120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656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528048" y="2039112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Wicket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528048" y="2350008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7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UI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36208" y="2907792"/>
            <a:ext cx="2395728" cy="777240"/>
          </a:xfrm>
          <a:prstGeom prst="roundRect">
            <a:avLst>
              <a:gd name="adj" fmla="val 15294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373368" y="3072384"/>
            <a:ext cx="429768" cy="429768"/>
          </a:xfrm>
          <a:prstGeom prst="roundRect">
            <a:avLst>
              <a:gd name="adj" fmla="val 25532"/>
            </a:avLst>
          </a:prstGeom>
          <a:solidFill>
            <a:srgbClr val="E5F5F8"/>
          </a:solidFill>
          <a:ln w="10160">
            <a:solidFill>
              <a:srgbClr val="E5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6373368" y="3127248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A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912864" y="306324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sbt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912864" y="3374136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7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851392" y="2907792"/>
            <a:ext cx="2395728" cy="777240"/>
          </a:xfrm>
          <a:prstGeom prst="roundRect">
            <a:avLst>
              <a:gd name="adj" fmla="val 15294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8988552" y="3072384"/>
            <a:ext cx="429768" cy="429768"/>
          </a:xfrm>
          <a:prstGeom prst="roundRect">
            <a:avLst>
              <a:gd name="adj" fmla="val 25532"/>
            </a:avLst>
          </a:prstGeom>
          <a:solidFill>
            <a:srgbClr val="EAF0FF"/>
          </a:solidFill>
          <a:ln w="10160">
            <a:solidFill>
              <a:srgbClr val="EAF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8988552" y="3127248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H/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528048" y="306324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/ CSS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528048" y="3374136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7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36208" y="3931920"/>
            <a:ext cx="2395728" cy="777240"/>
          </a:xfrm>
          <a:prstGeom prst="roundRect">
            <a:avLst>
              <a:gd name="adj" fmla="val 15294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373368" y="4096512"/>
            <a:ext cx="429768" cy="429768"/>
          </a:xfrm>
          <a:prstGeom prst="roundRect">
            <a:avLst>
              <a:gd name="adj" fmla="val 25532"/>
            </a:avLst>
          </a:prstGeom>
          <a:solidFill>
            <a:srgbClr val="E5F5F8"/>
          </a:solidFill>
          <a:ln w="10160">
            <a:solidFill>
              <a:srgbClr val="E5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6373368" y="4151376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A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912864" y="4087368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JDBC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912864" y="4398264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7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ACCESS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851392" y="3931920"/>
            <a:ext cx="2395728" cy="777240"/>
          </a:xfrm>
          <a:prstGeom prst="roundRect">
            <a:avLst>
              <a:gd name="adj" fmla="val 15294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8988552" y="4096512"/>
            <a:ext cx="429768" cy="429768"/>
          </a:xfrm>
          <a:prstGeom prst="roundRect">
            <a:avLst>
              <a:gd name="adj" fmla="val 25532"/>
            </a:avLst>
          </a:prstGeom>
          <a:solidFill>
            <a:srgbClr val="F0ECFF"/>
          </a:solidFill>
          <a:ln w="10160">
            <a:solidFill>
              <a:srgbClr val="F0E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 txBox="1"/>
          <p:nvPr/>
        </p:nvSpPr>
        <p:spPr>
          <a:xfrm>
            <a:off x="8988552" y="4151376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656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P/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9528048" y="4087368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PL/SQL / Oracle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9528048" y="4398264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7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566928" y="6565392"/>
            <a:ext cx="8961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35" dirty="0">
                <a:solidFill>
                  <a:srgbClr val="8290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UFM DEMO  •  LEARNING JOURNEY</a:t>
            </a:r>
            <a:endParaRPr lang="en-US" sz="80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84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FA78B3C7-23B2-7541-BFAE-C743912F3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7749" y="195054"/>
            <a:ext cx="365792" cy="4145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LANGUAGE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Scala learning &amp; implementation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69848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Concepts learned, then applied to the page, service and data-model code.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64208"/>
            <a:ext cx="1682496" cy="1828800"/>
          </a:xfrm>
          <a:prstGeom prst="roundRect">
            <a:avLst>
              <a:gd name="adj" fmla="val 7065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95528" y="18562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AF0FF"/>
          </a:solidFill>
          <a:ln w="10160">
            <a:solidFill>
              <a:srgbClr val="EAF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95528" y="191109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41401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660904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Variables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· Data types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 Functions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. Classes &amp; Objects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· OOP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1664208"/>
            <a:ext cx="1682496" cy="1828800"/>
          </a:xfrm>
          <a:prstGeom prst="roundRect">
            <a:avLst>
              <a:gd name="adj" fmla="val 7065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651760" y="18562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0ECFF"/>
          </a:solidFill>
          <a:ln w="10160">
            <a:solidFill>
              <a:srgbClr val="F0E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651760" y="191109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656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41401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MODELING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266090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Collections </a:t>
            </a:r>
            <a:b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Case Classes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Option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Pattern Matching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52544" y="1664208"/>
            <a:ext cx="1682496" cy="1828800"/>
          </a:xfrm>
          <a:prstGeom prst="roundRect">
            <a:avLst>
              <a:gd name="adj" fmla="val 7065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07992" y="18562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5F5F8"/>
          </a:solidFill>
          <a:ln w="10160">
            <a:solidFill>
              <a:srgbClr val="E5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507992" y="191109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A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07992" y="241401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 &amp; SAFETY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07992" y="27614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Higher-order functions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Exception handling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36792" y="2660904"/>
            <a:ext cx="576072" cy="0"/>
          </a:xfrm>
          <a:prstGeom prst="line">
            <a:avLst/>
          </a:prstGeom>
          <a:noFill/>
          <a:ln w="21590">
            <a:solidFill>
              <a:srgbClr val="7656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187184" y="16733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IN THE DEMO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2112264"/>
            <a:ext cx="128016" cy="128016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7424928" y="2039112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20391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Wicket screens + event handlers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23760" y="2825496"/>
            <a:ext cx="128016" cy="128016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7424928" y="2752344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27523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behavior and coordination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23760" y="3538728"/>
            <a:ext cx="128016" cy="128016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7424928" y="3465576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0" y="34655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Form-bound values and domain data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23760" y="4251960"/>
            <a:ext cx="128016" cy="128016"/>
          </a:xfrm>
          <a:prstGeom prst="ellipse">
            <a:avLst/>
          </a:prstGeom>
          <a:solidFill>
            <a:srgbClr val="7656DB"/>
          </a:solidFill>
          <a:ln w="12700">
            <a:solidFill>
              <a:srgbClr val="7656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7424928" y="417880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Repositories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0" y="41788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supplier query + mock data paths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096512"/>
            <a:ext cx="10652760" cy="987552"/>
          </a:xfrm>
          <a:prstGeom prst="roundRect">
            <a:avLst>
              <a:gd name="adj" fmla="val 12037"/>
            </a:avLst>
          </a:prstGeom>
          <a:solidFill>
            <a:srgbClr val="13223B"/>
          </a:solidFill>
          <a:ln w="10160">
            <a:solidFill>
              <a:srgbClr val="1322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877824" y="428853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AFC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→ PRACTICE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017520" y="4233672"/>
            <a:ext cx="7882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 is the application language for page logic, service code, models and repository implementations.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76656" y="538581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in the repository: page-level state, service/repository boundaries, case-class data models.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6565392"/>
            <a:ext cx="8961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35" dirty="0">
                <a:solidFill>
                  <a:srgbClr val="8290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UFM DEMO  •  LEARNING JOURNEY</a:t>
            </a:r>
            <a:endParaRPr lang="en-US" sz="8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84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2CBA339-70BA-7130-9A10-5EAD6C111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3789" y="195054"/>
            <a:ext cx="365792" cy="4145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WEB FRAMEWORK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Apache Wicket learning &amp; implementation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69848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server-side, component-based framework: HTML markup is bound to Scala components.</a:t>
            </a:r>
            <a:endParaRPr lang="en-US" sz="1100" b="1" dirty="0"/>
          </a:p>
        </p:txBody>
      </p:sp>
      <p:sp>
        <p:nvSpPr>
          <p:cNvPr id="5" name="Shape 3"/>
          <p:cNvSpPr/>
          <p:nvPr/>
        </p:nvSpPr>
        <p:spPr>
          <a:xfrm>
            <a:off x="694944" y="1609344"/>
            <a:ext cx="2148840" cy="658368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10160">
            <a:solidFill>
              <a:srgbClr val="D7E3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13816" y="1709928"/>
            <a:ext cx="19110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1947672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wicket:id</a:t>
            </a:r>
            <a:endParaRPr lang="en-US" sz="900" b="1" dirty="0"/>
          </a:p>
        </p:txBody>
      </p:sp>
      <p:sp>
        <p:nvSpPr>
          <p:cNvPr id="8" name="Shape 6"/>
          <p:cNvSpPr/>
          <p:nvPr/>
        </p:nvSpPr>
        <p:spPr>
          <a:xfrm>
            <a:off x="2944368" y="1938528"/>
            <a:ext cx="521208" cy="0"/>
          </a:xfrm>
          <a:prstGeom prst="line">
            <a:avLst/>
          </a:prstGeom>
          <a:noFill/>
          <a:ln w="21590">
            <a:solidFill>
              <a:srgbClr val="3268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566160" y="1609344"/>
            <a:ext cx="2148840" cy="658368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10160">
            <a:solidFill>
              <a:srgbClr val="D7E3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685032" y="1709928"/>
            <a:ext cx="19110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WICKET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85032" y="1947672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tree</a:t>
            </a:r>
            <a:endParaRPr lang="en-US" sz="900" b="1" dirty="0"/>
          </a:p>
        </p:txBody>
      </p:sp>
      <p:sp>
        <p:nvSpPr>
          <p:cNvPr id="12" name="Shape 10"/>
          <p:cNvSpPr/>
          <p:nvPr/>
        </p:nvSpPr>
        <p:spPr>
          <a:xfrm>
            <a:off x="5815584" y="1938528"/>
            <a:ext cx="521208" cy="0"/>
          </a:xfrm>
          <a:prstGeom prst="line">
            <a:avLst/>
          </a:prstGeom>
          <a:noFill/>
          <a:ln w="21590">
            <a:solidFill>
              <a:srgbClr val="3268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37376" y="1609344"/>
            <a:ext cx="2148840" cy="658368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10160">
            <a:solidFill>
              <a:srgbClr val="D7E3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556248" y="1709928"/>
            <a:ext cx="19110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56248" y="1947672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logic</a:t>
            </a:r>
            <a:endParaRPr lang="en-US" sz="900" b="1" dirty="0"/>
          </a:p>
        </p:txBody>
      </p:sp>
      <p:sp>
        <p:nvSpPr>
          <p:cNvPr id="16" name="Shape 14"/>
          <p:cNvSpPr/>
          <p:nvPr/>
        </p:nvSpPr>
        <p:spPr>
          <a:xfrm>
            <a:off x="8686800" y="1938528"/>
            <a:ext cx="521208" cy="0"/>
          </a:xfrm>
          <a:prstGeom prst="line">
            <a:avLst/>
          </a:prstGeom>
          <a:noFill/>
          <a:ln w="21590">
            <a:solidFill>
              <a:srgbClr val="7656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308592" y="1609344"/>
            <a:ext cx="2148840" cy="658368"/>
          </a:xfrm>
          <a:prstGeom prst="roundRect">
            <a:avLst>
              <a:gd name="adj" fmla="val 16667"/>
            </a:avLst>
          </a:prstGeom>
          <a:solidFill>
            <a:srgbClr val="F0ECFF"/>
          </a:solidFill>
          <a:ln w="10160">
            <a:solidFill>
              <a:srgbClr val="E0D9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9427464" y="1709928"/>
            <a:ext cx="19110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656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427464" y="1947672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</a:t>
            </a:r>
            <a:endParaRPr lang="en-US" sz="900" b="1" dirty="0"/>
          </a:p>
        </p:txBody>
      </p:sp>
      <p:sp>
        <p:nvSpPr>
          <p:cNvPr id="20" name="Shape 18"/>
          <p:cNvSpPr/>
          <p:nvPr/>
        </p:nvSpPr>
        <p:spPr>
          <a:xfrm>
            <a:off x="658368" y="2697480"/>
            <a:ext cx="5230368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86384" y="2862072"/>
            <a:ext cx="64008" cy="493776"/>
          </a:xfrm>
          <a:prstGeom prst="roundRect">
            <a:avLst>
              <a:gd name="adj" fmla="val 42857"/>
            </a:avLst>
          </a:prstGeom>
          <a:solidFill>
            <a:srgbClr val="3268E8"/>
          </a:solidFill>
          <a:ln w="1016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987552" y="2843784"/>
            <a:ext cx="46085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80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&amp; CONTENT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" y="3026662"/>
            <a:ext cx="4645152" cy="58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 </a:t>
            </a:r>
            <a:r>
              <a:rPr lang="en-US" sz="1100" dirty="0" err="1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WebPage</a:t>
            </a: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    · Panels             · ListView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</a:t>
            </a:r>
            <a:r>
              <a:rPr lang="en-US" sz="1100" dirty="0" err="1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DataTable</a:t>
            </a: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      · Label                · Link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0488" y="2697480"/>
            <a:ext cx="5230368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318504" y="2862072"/>
            <a:ext cx="64008" cy="493776"/>
          </a:xfrm>
          <a:prstGeom prst="roundRect">
            <a:avLst>
              <a:gd name="adj" fmla="val 42857"/>
            </a:avLst>
          </a:prstGeom>
          <a:solidFill>
            <a:srgbClr val="3268E8"/>
          </a:solidFill>
          <a:ln w="1016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519672" y="2843784"/>
            <a:ext cx="46085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80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 &amp; CHOICE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519672" y="3072384"/>
            <a:ext cx="4645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Form 		· </a:t>
            </a:r>
            <a:r>
              <a:rPr lang="en-US" sz="1100" dirty="0" err="1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TextField</a:t>
            </a: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	· TextArea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</a:t>
            </a:r>
            <a:r>
              <a:rPr lang="en-US" sz="1100" dirty="0" err="1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DropDownChoice</a:t>
            </a: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	· </a:t>
            </a:r>
            <a:r>
              <a:rPr lang="en-US" sz="1100" dirty="0" err="1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CheckBox</a:t>
            </a: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	 · </a:t>
            </a:r>
            <a:r>
              <a:rPr lang="en-US" sz="1100" dirty="0" err="1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RadioChoice</a:t>
            </a: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· Button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" y="3776472"/>
            <a:ext cx="5230368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86384" y="3941064"/>
            <a:ext cx="64008" cy="493776"/>
          </a:xfrm>
          <a:prstGeom prst="roundRect">
            <a:avLst>
              <a:gd name="adj" fmla="val 42857"/>
            </a:avLst>
          </a:prstGeom>
          <a:solidFill>
            <a:srgbClr val="7656DB"/>
          </a:solidFill>
          <a:ln w="10160">
            <a:solidFill>
              <a:srgbClr val="7656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987552" y="3922776"/>
            <a:ext cx="46085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80" dirty="0">
                <a:solidFill>
                  <a:srgbClr val="7656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BINDING &amp; FEEDBACK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" y="4151376"/>
            <a:ext cx="4645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		 · PropertyModel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 err="1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CompoundPropertyModel</a:t>
            </a: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	 · </a:t>
            </a:r>
            <a:r>
              <a:rPr lang="en-US" sz="1100" dirty="0" err="1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FeedbackPanel</a:t>
            </a: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	 · Validation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90488" y="3776472"/>
            <a:ext cx="5230368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318504" y="3941064"/>
            <a:ext cx="64008" cy="493776"/>
          </a:xfrm>
          <a:prstGeom prst="roundRect">
            <a:avLst>
              <a:gd name="adj" fmla="val 42857"/>
            </a:avLst>
          </a:prstGeom>
          <a:solidFill>
            <a:srgbClr val="7656DB"/>
          </a:solidFill>
          <a:ln w="10160">
            <a:solidFill>
              <a:srgbClr val="7656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519672" y="3922776"/>
            <a:ext cx="46085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80" dirty="0">
                <a:solidFill>
                  <a:srgbClr val="7656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 &amp; EVENTS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519672" y="4151376"/>
            <a:ext cx="4645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AJAX	 · </a:t>
            </a:r>
            <a:r>
              <a:rPr lang="en-US" sz="1100" dirty="0" err="1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AjaxButton</a:t>
            </a: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	. </a:t>
            </a:r>
            <a:r>
              <a:rPr lang="en-US" sz="1100" dirty="0" err="1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AjaxRequestTarget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" y="5047488"/>
            <a:ext cx="10762488" cy="512064"/>
          </a:xfrm>
          <a:prstGeom prst="roundRect">
            <a:avLst>
              <a:gd name="adj" fmla="val 21429"/>
            </a:avLst>
          </a:prstGeom>
          <a:solidFill>
            <a:srgbClr val="EAF7F5"/>
          </a:solidFill>
          <a:ln w="10160">
            <a:solidFill>
              <a:srgbClr val="D6EF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859536" y="520293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8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947672" y="5138928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IDs in markup must match the Wicket component tree.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6565392"/>
            <a:ext cx="8961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35" dirty="0">
                <a:solidFill>
                  <a:srgbClr val="8290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UFM DEMO  •  LEARNING JOURNEY</a:t>
            </a:r>
            <a:endParaRPr lang="en-US" sz="8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84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108A2F3-A67C-66F4-A110-C8B0FD3F3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9728" y="195054"/>
            <a:ext cx="365792" cy="4145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DATABASE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PL/SQL learning &amp; implementation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69848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programming concepts studied alongside the application data-access path.</a:t>
            </a:r>
            <a:endParaRPr lang="en-US" sz="1100" b="1" dirty="0"/>
          </a:p>
        </p:txBody>
      </p:sp>
      <p:sp>
        <p:nvSpPr>
          <p:cNvPr id="5" name="Shape 3"/>
          <p:cNvSpPr/>
          <p:nvPr/>
        </p:nvSpPr>
        <p:spPr>
          <a:xfrm>
            <a:off x="658368" y="1700784"/>
            <a:ext cx="1847088" cy="438912"/>
          </a:xfrm>
          <a:prstGeom prst="roundRect">
            <a:avLst>
              <a:gd name="adj" fmla="val 22917"/>
            </a:avLst>
          </a:prstGeom>
          <a:solidFill>
            <a:srgbClr val="EAF0FF"/>
          </a:solidFill>
          <a:ln w="10160">
            <a:solidFill>
              <a:srgbClr val="D9E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86384" y="1856232"/>
            <a:ext cx="100584" cy="100584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950976" y="180136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1700784"/>
            <a:ext cx="1847088" cy="438912"/>
          </a:xfrm>
          <a:prstGeom prst="roundRect">
            <a:avLst>
              <a:gd name="adj" fmla="val 22917"/>
            </a:avLst>
          </a:prstGeom>
          <a:solidFill>
            <a:srgbClr val="EAF0FF"/>
          </a:solidFill>
          <a:ln w="10160">
            <a:solidFill>
              <a:srgbClr val="D9E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825496" y="1856232"/>
            <a:ext cx="100584" cy="100584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990088" y="180136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&amp; Data Types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36592" y="1700784"/>
            <a:ext cx="1847088" cy="438912"/>
          </a:xfrm>
          <a:prstGeom prst="roundRect">
            <a:avLst>
              <a:gd name="adj" fmla="val 22917"/>
            </a:avLst>
          </a:prstGeom>
          <a:solidFill>
            <a:srgbClr val="EAF0FF"/>
          </a:solidFill>
          <a:ln w="10160">
            <a:solidFill>
              <a:srgbClr val="D9E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864608" y="1856232"/>
            <a:ext cx="100584" cy="100584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029200" y="180136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75704" y="1700784"/>
            <a:ext cx="1847088" cy="438912"/>
          </a:xfrm>
          <a:prstGeom prst="roundRect">
            <a:avLst>
              <a:gd name="adj" fmla="val 22917"/>
            </a:avLst>
          </a:prstGeom>
          <a:solidFill>
            <a:srgbClr val="EAF0FF"/>
          </a:solidFill>
          <a:ln w="10160">
            <a:solidFill>
              <a:srgbClr val="D9E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903720" y="1856232"/>
            <a:ext cx="100584" cy="100584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068312" y="180136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814816" y="1700784"/>
            <a:ext cx="1847088" cy="438912"/>
          </a:xfrm>
          <a:prstGeom prst="roundRect">
            <a:avLst>
              <a:gd name="adj" fmla="val 22917"/>
            </a:avLst>
          </a:prstGeom>
          <a:solidFill>
            <a:srgbClr val="EAF0FF"/>
          </a:solidFill>
          <a:ln w="10160">
            <a:solidFill>
              <a:srgbClr val="D9E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942832" y="1856232"/>
            <a:ext cx="100584" cy="100584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9107424" y="180136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Procedures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" y="2340864"/>
            <a:ext cx="1847088" cy="438912"/>
          </a:xfrm>
          <a:prstGeom prst="roundRect">
            <a:avLst>
              <a:gd name="adj" fmla="val 22917"/>
            </a:avLst>
          </a:prstGeom>
          <a:solidFill>
            <a:srgbClr val="F0ECFF"/>
          </a:solidFill>
          <a:ln w="10160">
            <a:solidFill>
              <a:srgbClr val="E4DD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86384" y="2496312"/>
            <a:ext cx="100584" cy="100584"/>
          </a:xfrm>
          <a:prstGeom prst="ellipse">
            <a:avLst/>
          </a:prstGeom>
          <a:solidFill>
            <a:srgbClr val="7656DB"/>
          </a:solidFill>
          <a:ln w="12700">
            <a:solidFill>
              <a:srgbClr val="7656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950976" y="244144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97480" y="2340864"/>
            <a:ext cx="1847088" cy="438912"/>
          </a:xfrm>
          <a:prstGeom prst="roundRect">
            <a:avLst>
              <a:gd name="adj" fmla="val 22917"/>
            </a:avLst>
          </a:prstGeom>
          <a:solidFill>
            <a:srgbClr val="F0ECFF"/>
          </a:solidFill>
          <a:ln w="10160">
            <a:solidFill>
              <a:srgbClr val="E4DD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825496" y="2496312"/>
            <a:ext cx="100584" cy="100584"/>
          </a:xfrm>
          <a:prstGeom prst="ellipse">
            <a:avLst/>
          </a:prstGeom>
          <a:solidFill>
            <a:srgbClr val="7656DB"/>
          </a:solidFill>
          <a:ln w="12700">
            <a:solidFill>
              <a:srgbClr val="7656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2990088" y="244144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36592" y="2340864"/>
            <a:ext cx="1847088" cy="438912"/>
          </a:xfrm>
          <a:prstGeom prst="roundRect">
            <a:avLst>
              <a:gd name="adj" fmla="val 22917"/>
            </a:avLst>
          </a:prstGeom>
          <a:solidFill>
            <a:srgbClr val="F0ECFF"/>
          </a:solidFill>
          <a:ln w="10160">
            <a:solidFill>
              <a:srgbClr val="E4DD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864608" y="2496312"/>
            <a:ext cx="100584" cy="100584"/>
          </a:xfrm>
          <a:prstGeom prst="ellipse">
            <a:avLst/>
          </a:prstGeom>
          <a:solidFill>
            <a:srgbClr val="7656DB"/>
          </a:solidFill>
          <a:ln w="12700">
            <a:solidFill>
              <a:srgbClr val="7656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5029200" y="244144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75704" y="2340864"/>
            <a:ext cx="1847088" cy="438912"/>
          </a:xfrm>
          <a:prstGeom prst="roundRect">
            <a:avLst>
              <a:gd name="adj" fmla="val 22917"/>
            </a:avLst>
          </a:prstGeom>
          <a:solidFill>
            <a:srgbClr val="F0ECFF"/>
          </a:solidFill>
          <a:ln w="10160">
            <a:solidFill>
              <a:srgbClr val="E4DD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903720" y="2496312"/>
            <a:ext cx="100584" cy="100584"/>
          </a:xfrm>
          <a:prstGeom prst="ellipse">
            <a:avLst/>
          </a:prstGeom>
          <a:solidFill>
            <a:srgbClr val="7656DB"/>
          </a:solidFill>
          <a:ln w="12700">
            <a:solidFill>
              <a:srgbClr val="7656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7068312" y="244144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814816" y="2340864"/>
            <a:ext cx="1847088" cy="438912"/>
          </a:xfrm>
          <a:prstGeom prst="roundRect">
            <a:avLst>
              <a:gd name="adj" fmla="val 22917"/>
            </a:avLst>
          </a:prstGeom>
          <a:solidFill>
            <a:srgbClr val="F0ECFF"/>
          </a:solidFill>
          <a:ln w="10160">
            <a:solidFill>
              <a:srgbClr val="E4DD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942832" y="2496312"/>
            <a:ext cx="100584" cy="100584"/>
          </a:xfrm>
          <a:prstGeom prst="ellipse">
            <a:avLst/>
          </a:prstGeom>
          <a:solidFill>
            <a:srgbClr val="7656DB"/>
          </a:solidFill>
          <a:ln w="12700">
            <a:solidFill>
              <a:srgbClr val="7656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9107424" y="244144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Business logic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" y="3154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INTEGRATION FLOW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3232" y="3529584"/>
            <a:ext cx="1691640" cy="640080"/>
          </a:xfrm>
          <a:prstGeom prst="roundRect">
            <a:avLst>
              <a:gd name="adj" fmla="val 17143"/>
            </a:avLst>
          </a:prstGeom>
          <a:solidFill>
            <a:srgbClr val="EDF3FF"/>
          </a:solidFill>
          <a:ln w="10160">
            <a:solidFill>
              <a:srgbClr val="D7E3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795528" y="3739896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468880" y="3849624"/>
            <a:ext cx="466344" cy="0"/>
          </a:xfrm>
          <a:prstGeom prst="line">
            <a:avLst/>
          </a:prstGeom>
          <a:noFill/>
          <a:ln w="21590">
            <a:solidFill>
              <a:srgbClr val="3268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2999232" y="3529584"/>
            <a:ext cx="1691640" cy="640080"/>
          </a:xfrm>
          <a:prstGeom prst="roundRect">
            <a:avLst>
              <a:gd name="adj" fmla="val 17143"/>
            </a:avLst>
          </a:prstGeom>
          <a:solidFill>
            <a:srgbClr val="EDF3FF"/>
          </a:solidFill>
          <a:ln w="10160">
            <a:solidFill>
              <a:srgbClr val="D7E3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3081528" y="3739896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/ DAO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54880" y="3849624"/>
            <a:ext cx="466344" cy="0"/>
          </a:xfrm>
          <a:prstGeom prst="line">
            <a:avLst/>
          </a:prstGeom>
          <a:noFill/>
          <a:ln w="21590">
            <a:solidFill>
              <a:srgbClr val="3268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5285232" y="3529584"/>
            <a:ext cx="1691640" cy="640080"/>
          </a:xfrm>
          <a:prstGeom prst="roundRect">
            <a:avLst>
              <a:gd name="adj" fmla="val 17143"/>
            </a:avLst>
          </a:prstGeom>
          <a:solidFill>
            <a:srgbClr val="EDF3FF"/>
          </a:solidFill>
          <a:ln w="10160">
            <a:solidFill>
              <a:srgbClr val="D7E3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5367528" y="3739896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JDBC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040880" y="3849624"/>
            <a:ext cx="466344" cy="0"/>
          </a:xfrm>
          <a:prstGeom prst="line">
            <a:avLst/>
          </a:prstGeom>
          <a:noFill/>
          <a:ln w="21590">
            <a:solidFill>
              <a:srgbClr val="7656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7571232" y="3529584"/>
            <a:ext cx="1691640" cy="640080"/>
          </a:xfrm>
          <a:prstGeom prst="roundRect">
            <a:avLst>
              <a:gd name="adj" fmla="val 17143"/>
            </a:avLst>
          </a:prstGeom>
          <a:solidFill>
            <a:srgbClr val="F1EEFF"/>
          </a:solidFill>
          <a:ln w="10160">
            <a:solidFill>
              <a:srgbClr val="E4DD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 txBox="1"/>
          <p:nvPr/>
        </p:nvSpPr>
        <p:spPr>
          <a:xfrm>
            <a:off x="7653528" y="3739896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656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326880" y="3849624"/>
            <a:ext cx="466344" cy="0"/>
          </a:xfrm>
          <a:prstGeom prst="line">
            <a:avLst/>
          </a:prstGeom>
          <a:noFill/>
          <a:ln w="21590">
            <a:solidFill>
              <a:srgbClr val="7656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9857232" y="3529584"/>
            <a:ext cx="1691640" cy="640080"/>
          </a:xfrm>
          <a:prstGeom prst="roundRect">
            <a:avLst>
              <a:gd name="adj" fmla="val 17143"/>
            </a:avLst>
          </a:prstGeom>
          <a:solidFill>
            <a:srgbClr val="F1EEFF"/>
          </a:solidFill>
          <a:ln w="10160">
            <a:solidFill>
              <a:srgbClr val="E4DD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 txBox="1"/>
          <p:nvPr/>
        </p:nvSpPr>
        <p:spPr>
          <a:xfrm>
            <a:off x="9939528" y="3739896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656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PL/SQL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13232" y="4608576"/>
            <a:ext cx="10771632" cy="804672"/>
          </a:xfrm>
          <a:prstGeom prst="roundRect">
            <a:avLst>
              <a:gd name="adj" fmla="val 13636"/>
            </a:avLst>
          </a:prstGeom>
          <a:solidFill>
            <a:srgbClr val="FFF2DC"/>
          </a:solidFill>
          <a:ln w="10160">
            <a:solidFill>
              <a:srgbClr val="F0D7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905256" y="4745736"/>
            <a:ext cx="1078992" cy="256032"/>
          </a:xfrm>
          <a:prstGeom prst="roundRect">
            <a:avLst>
              <a:gd name="adj" fmla="val 32143"/>
            </a:avLst>
          </a:prstGeom>
          <a:solidFill>
            <a:srgbClr val="FFE6BC"/>
          </a:solidFill>
          <a:ln w="10160">
            <a:solidFill>
              <a:srgbClr val="FFE6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 txBox="1"/>
          <p:nvPr/>
        </p:nvSpPr>
        <p:spPr>
          <a:xfrm>
            <a:off x="978408" y="475488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7A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CHECK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2212848" y="4700016"/>
            <a:ext cx="88971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supplier lookup is wired through JDBC. Broader PL/SQL routines and business writes are  implemented.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566928" y="6565392"/>
            <a:ext cx="8961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35" dirty="0">
                <a:solidFill>
                  <a:srgbClr val="8290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UFM DEMO  •  LEARNING JOURNEY</a:t>
            </a:r>
            <a:endParaRPr lang="en-US" sz="80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84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8B5E6FEC-C1D9-1DF2-A406-08BA38239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5072" y="179796"/>
            <a:ext cx="365792" cy="4145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PROJECT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Metro UFM Demo — project overview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69848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enterprise-style UI demonstration for ordering, stock assignment and parameter screens.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3703320" cy="3547872"/>
          </a:xfrm>
          <a:prstGeom prst="roundRect">
            <a:avLst>
              <a:gd name="adj" fmla="val 4124"/>
            </a:avLst>
          </a:prstGeom>
          <a:solidFill>
            <a:srgbClr val="13223B"/>
          </a:solidFill>
          <a:ln w="10160">
            <a:solidFill>
              <a:srgbClr val="1322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96112" y="18379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E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PURPOSE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203704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 the full path from web interaction to application and data-access code.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502152"/>
            <a:ext cx="2971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1DC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 2.13  •  Apache Wicket  •  sbt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1DC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HTML/CSS  •  JDBC  •  Oracle driver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96112" y="4416552"/>
            <a:ext cx="1225296" cy="256032"/>
          </a:xfrm>
          <a:prstGeom prst="roundRect">
            <a:avLst>
              <a:gd name="adj" fmla="val 32143"/>
            </a:avLst>
          </a:prstGeom>
          <a:solidFill>
            <a:srgbClr val="263C61"/>
          </a:solidFill>
          <a:ln w="10160">
            <a:solidFill>
              <a:srgbClr val="263C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969264" y="442569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6D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SCOPE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609344"/>
            <a:ext cx="665683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892040" y="1728216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+ shell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173736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UI / flow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994392" y="1792224"/>
            <a:ext cx="960120" cy="256032"/>
          </a:xfrm>
          <a:prstGeom prst="roundRect">
            <a:avLst>
              <a:gd name="adj" fmla="val 32143"/>
            </a:avLst>
          </a:prstGeom>
          <a:solidFill>
            <a:srgbClr val="E4F5EF"/>
          </a:solidFill>
          <a:ln w="10160">
            <a:solidFill>
              <a:srgbClr val="E4F5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2441448"/>
            <a:ext cx="665683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892040" y="256032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DSD Order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56946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UI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994392" y="2624328"/>
            <a:ext cx="960120" cy="256032"/>
          </a:xfrm>
          <a:prstGeom prst="roundRect">
            <a:avLst>
              <a:gd name="adj" fmla="val 32143"/>
            </a:avLst>
          </a:prstGeom>
          <a:solidFill>
            <a:srgbClr val="EAF0FF"/>
          </a:solidFill>
          <a:ln w="10160">
            <a:solidFill>
              <a:srgbClr val="EAF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Shape 19"/>
          <p:cNvSpPr/>
          <p:nvPr/>
        </p:nvSpPr>
        <p:spPr>
          <a:xfrm>
            <a:off x="4663440" y="3273552"/>
            <a:ext cx="665683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4892040" y="3392424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Assignment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40156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Mock-backed results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94392" y="3456432"/>
            <a:ext cx="960120" cy="256032"/>
          </a:xfrm>
          <a:prstGeom prst="roundRect">
            <a:avLst>
              <a:gd name="adj" fmla="val 32143"/>
            </a:avLst>
          </a:prstGeom>
          <a:solidFill>
            <a:srgbClr val="FFF2DC"/>
          </a:solidFill>
          <a:ln w="10160">
            <a:solidFill>
              <a:srgbClr val="FFF2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63440" y="4105656"/>
            <a:ext cx="665683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4892040" y="4224528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Steering Parameter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423367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Page-local state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994392" y="4288536"/>
            <a:ext cx="960120" cy="256032"/>
          </a:xfrm>
          <a:prstGeom prst="roundRect">
            <a:avLst>
              <a:gd name="adj" fmla="val 32143"/>
            </a:avLst>
          </a:prstGeom>
          <a:solidFill>
            <a:srgbClr val="F0ECFF"/>
          </a:solidFill>
          <a:ln w="10160">
            <a:solidFill>
              <a:srgbClr val="F0E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566928" y="6565392"/>
            <a:ext cx="8961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35" dirty="0">
                <a:solidFill>
                  <a:srgbClr val="8290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UFM DEMO  •  LEARNING JOURNEY</a:t>
            </a:r>
            <a:endParaRPr lang="en-US" sz="8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84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F9BD408-CF54-E22E-0C16-F1F0D000A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3736" y="195054"/>
            <a:ext cx="365792" cy="4145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ARCHITECTURE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&amp; technology integration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69848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has a Wicket → Scala → service/repository shape; only selected data paths reach Oracle.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22376" y="1444752"/>
            <a:ext cx="3794760" cy="438912"/>
          </a:xfrm>
          <a:prstGeom prst="roundRect">
            <a:avLst>
              <a:gd name="adj" fmla="val 20833"/>
            </a:avLst>
          </a:prstGeom>
          <a:solidFill>
            <a:srgbClr val="EDF3FF"/>
          </a:solidFill>
          <a:ln w="10160">
            <a:solidFill>
              <a:srgbClr val="D7E3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96112" y="15361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322576" y="1536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interaction</a:t>
            </a:r>
            <a:endParaRPr lang="en-US" sz="900" b="1" dirty="0"/>
          </a:p>
        </p:txBody>
      </p:sp>
      <p:sp>
        <p:nvSpPr>
          <p:cNvPr id="8" name="Shape 6"/>
          <p:cNvSpPr/>
          <p:nvPr/>
        </p:nvSpPr>
        <p:spPr>
          <a:xfrm>
            <a:off x="2441448" y="1901952"/>
            <a:ext cx="0" cy="118872"/>
          </a:xfrm>
          <a:prstGeom prst="line">
            <a:avLst/>
          </a:prstGeom>
          <a:noFill/>
          <a:ln w="21590">
            <a:solidFill>
              <a:srgbClr val="13223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22376" y="2029968"/>
            <a:ext cx="3794760" cy="438912"/>
          </a:xfrm>
          <a:prstGeom prst="roundRect">
            <a:avLst>
              <a:gd name="adj" fmla="val 20833"/>
            </a:avLst>
          </a:prstGeom>
          <a:solidFill>
            <a:srgbClr val="EDF3FF"/>
          </a:solidFill>
          <a:ln w="10160">
            <a:solidFill>
              <a:srgbClr val="D7E3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96112" y="21214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WICKET UI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322576" y="2121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Pages · panels · component tree</a:t>
            </a:r>
            <a:endParaRPr lang="en-US" sz="900" b="1" dirty="0"/>
          </a:p>
        </p:txBody>
      </p:sp>
      <p:sp>
        <p:nvSpPr>
          <p:cNvPr id="12" name="Shape 10"/>
          <p:cNvSpPr/>
          <p:nvPr/>
        </p:nvSpPr>
        <p:spPr>
          <a:xfrm>
            <a:off x="2441448" y="2487168"/>
            <a:ext cx="0" cy="118872"/>
          </a:xfrm>
          <a:prstGeom prst="line">
            <a:avLst/>
          </a:prstGeom>
          <a:noFill/>
          <a:ln w="21590">
            <a:solidFill>
              <a:srgbClr val="3268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22376" y="2615184"/>
            <a:ext cx="3794760" cy="438912"/>
          </a:xfrm>
          <a:prstGeom prst="roundRect">
            <a:avLst>
              <a:gd name="adj" fmla="val 20833"/>
            </a:avLst>
          </a:prstGeom>
          <a:solidFill>
            <a:srgbClr val="EDF3FF"/>
          </a:solidFill>
          <a:ln w="10160">
            <a:solidFill>
              <a:srgbClr val="D7E3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96112" y="27066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 APP LOGIC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322576" y="2706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behavior · models · validation</a:t>
            </a:r>
            <a:endParaRPr lang="en-US" sz="900" b="1" dirty="0"/>
          </a:p>
        </p:txBody>
      </p:sp>
      <p:sp>
        <p:nvSpPr>
          <p:cNvPr id="16" name="Shape 14"/>
          <p:cNvSpPr/>
          <p:nvPr/>
        </p:nvSpPr>
        <p:spPr>
          <a:xfrm>
            <a:off x="2441448" y="3072384"/>
            <a:ext cx="0" cy="118872"/>
          </a:xfrm>
          <a:prstGeom prst="line">
            <a:avLst/>
          </a:prstGeom>
          <a:noFill/>
          <a:ln w="21590">
            <a:solidFill>
              <a:srgbClr val="3268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22376" y="3200400"/>
            <a:ext cx="3794760" cy="438912"/>
          </a:xfrm>
          <a:prstGeom prst="roundRect">
            <a:avLst>
              <a:gd name="adj" fmla="val 20833"/>
            </a:avLst>
          </a:prstGeom>
          <a:solidFill>
            <a:srgbClr val="F1EEFF"/>
          </a:solidFill>
          <a:ln w="10160">
            <a:solidFill>
              <a:srgbClr val="E4DD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96112" y="3291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656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LAYER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322576" y="3291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orchestration</a:t>
            </a:r>
            <a:endParaRPr lang="en-US" sz="900" b="1" dirty="0"/>
          </a:p>
        </p:txBody>
      </p:sp>
      <p:sp>
        <p:nvSpPr>
          <p:cNvPr id="20" name="Shape 18"/>
          <p:cNvSpPr/>
          <p:nvPr/>
        </p:nvSpPr>
        <p:spPr>
          <a:xfrm>
            <a:off x="2441448" y="3657600"/>
            <a:ext cx="0" cy="118872"/>
          </a:xfrm>
          <a:prstGeom prst="line">
            <a:avLst/>
          </a:prstGeom>
          <a:noFill/>
          <a:ln w="21590">
            <a:solidFill>
              <a:srgbClr val="7656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22376" y="3785616"/>
            <a:ext cx="3794760" cy="438912"/>
          </a:xfrm>
          <a:prstGeom prst="roundRect">
            <a:avLst>
              <a:gd name="adj" fmla="val 20833"/>
            </a:avLst>
          </a:prstGeom>
          <a:solidFill>
            <a:srgbClr val="F1EEFF"/>
          </a:solidFill>
          <a:ln w="10160">
            <a:solidFill>
              <a:srgbClr val="E4DD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896112" y="38770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656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/ DAO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322576" y="38770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supplier query  repositories</a:t>
            </a:r>
            <a:endParaRPr lang="en-US" sz="900" b="1" dirty="0"/>
          </a:p>
        </p:txBody>
      </p:sp>
      <p:sp>
        <p:nvSpPr>
          <p:cNvPr id="24" name="Shape 22"/>
          <p:cNvSpPr/>
          <p:nvPr/>
        </p:nvSpPr>
        <p:spPr>
          <a:xfrm>
            <a:off x="2441448" y="4242816"/>
            <a:ext cx="0" cy="118872"/>
          </a:xfrm>
          <a:prstGeom prst="line">
            <a:avLst/>
          </a:prstGeom>
          <a:noFill/>
          <a:ln w="21590">
            <a:solidFill>
              <a:srgbClr val="7656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22376" y="4370832"/>
            <a:ext cx="3794760" cy="438912"/>
          </a:xfrm>
          <a:prstGeom prst="roundRect">
            <a:avLst>
              <a:gd name="adj" fmla="val 20833"/>
            </a:avLst>
          </a:prstGeom>
          <a:solidFill>
            <a:srgbClr val="E5F5F8"/>
          </a:solidFill>
          <a:ln w="10160">
            <a:solidFill>
              <a:srgbClr val="CFED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896112" y="44622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A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JDBC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322576" y="44622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+ SQL for supplier lookup</a:t>
            </a:r>
            <a:endParaRPr lang="en-US" sz="900" b="1" dirty="0"/>
          </a:p>
        </p:txBody>
      </p:sp>
      <p:sp>
        <p:nvSpPr>
          <p:cNvPr id="28" name="Shape 26"/>
          <p:cNvSpPr/>
          <p:nvPr/>
        </p:nvSpPr>
        <p:spPr>
          <a:xfrm>
            <a:off x="2441448" y="4828032"/>
            <a:ext cx="0" cy="118872"/>
          </a:xfrm>
          <a:prstGeom prst="line">
            <a:avLst/>
          </a:prstGeom>
          <a:noFill/>
          <a:ln w="21590">
            <a:solidFill>
              <a:srgbClr val="21A6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22376" y="4956048"/>
            <a:ext cx="3794760" cy="438912"/>
          </a:xfrm>
          <a:prstGeom prst="roundRect">
            <a:avLst>
              <a:gd name="adj" fmla="val 20833"/>
            </a:avLst>
          </a:prstGeom>
          <a:solidFill>
            <a:srgbClr val="E5F5F8"/>
          </a:solidFill>
          <a:ln w="10160">
            <a:solidFill>
              <a:srgbClr val="CFED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896112" y="50474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A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322576" y="50383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lookup; broader PL/SQL </a:t>
            </a:r>
            <a:endParaRPr lang="en-US" sz="900" b="1" dirty="0"/>
          </a:p>
        </p:txBody>
      </p:sp>
      <p:sp>
        <p:nvSpPr>
          <p:cNvPr id="32" name="Shape 30"/>
          <p:cNvSpPr/>
          <p:nvPr/>
        </p:nvSpPr>
        <p:spPr>
          <a:xfrm>
            <a:off x="5120640" y="1572768"/>
            <a:ext cx="6181344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330952" y="1801368"/>
            <a:ext cx="146304" cy="146304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5559552" y="171907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WICKET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784848" y="1700784"/>
            <a:ext cx="4133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screens and handle requests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20640" y="2551176"/>
            <a:ext cx="6181344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330952" y="2779776"/>
            <a:ext cx="146304" cy="146304"/>
          </a:xfrm>
          <a:prstGeom prst="ellipse">
            <a:avLst/>
          </a:prstGeom>
          <a:solidFill>
            <a:srgbClr val="7656DB"/>
          </a:solidFill>
          <a:ln w="12700">
            <a:solidFill>
              <a:srgbClr val="7656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5559552" y="269748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784848" y="2679192"/>
            <a:ext cx="4133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application behavior and models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120640" y="3529584"/>
            <a:ext cx="6181344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330952" y="3758184"/>
            <a:ext cx="146304" cy="146304"/>
          </a:xfrm>
          <a:prstGeom prst="ellipse">
            <a:avLst/>
          </a:prstGeom>
          <a:solidFill>
            <a:srgbClr val="21A6C7"/>
          </a:solidFill>
          <a:ln w="12700">
            <a:solidFill>
              <a:srgbClr val="21A6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5559552" y="367588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784848" y="3657600"/>
            <a:ext cx="4133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from Oracle  data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120640" y="4507992"/>
            <a:ext cx="6181344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5330952" y="4736592"/>
            <a:ext cx="146304" cy="146304"/>
          </a:xfrm>
          <a:prstGeom prst="ellipse">
            <a:avLst/>
          </a:prstGeom>
          <a:solidFill>
            <a:srgbClr val="C47A16"/>
          </a:solidFill>
          <a:ln w="12700">
            <a:solidFill>
              <a:srgbClr val="C47A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 txBox="1"/>
          <p:nvPr/>
        </p:nvSpPr>
        <p:spPr>
          <a:xfrm>
            <a:off x="5559552" y="465429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PL/SQL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784848" y="4636008"/>
            <a:ext cx="4133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Specified as future database-side logic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566928" y="6565392"/>
            <a:ext cx="8961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35" dirty="0">
                <a:solidFill>
                  <a:srgbClr val="8290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UFM DEMO  •  LEARNING JOURNEY</a:t>
            </a:r>
            <a:endParaRPr lang="en-US" sz="8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84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4E679303-4460-4A5C-E4BD-D40AF6A52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3093" y="195054"/>
            <a:ext cx="365792" cy="4145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APPLICATION MAP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Modules &amp; navigation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69848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path through the demo; badges distinguish implemented interaction from data backing.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26864" y="1463040"/>
            <a:ext cx="2907792" cy="530352"/>
          </a:xfrm>
          <a:prstGeom prst="roundRect">
            <a:avLst>
              <a:gd name="adj" fmla="val 20690"/>
            </a:avLst>
          </a:prstGeom>
          <a:solidFill>
            <a:srgbClr val="13223B"/>
          </a:solidFill>
          <a:ln w="10160">
            <a:solidFill>
              <a:srgbClr val="1322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736592" y="1618488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2011680"/>
            <a:ext cx="0" cy="338328"/>
          </a:xfrm>
          <a:prstGeom prst="line">
            <a:avLst/>
          </a:prstGeom>
          <a:noFill/>
          <a:ln w="21590">
            <a:solidFill>
              <a:srgbClr val="3268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626864" y="2368296"/>
            <a:ext cx="2907792" cy="530352"/>
          </a:xfrm>
          <a:prstGeom prst="roundRect">
            <a:avLst>
              <a:gd name="adj" fmla="val 20690"/>
            </a:avLst>
          </a:prstGeom>
          <a:solidFill>
            <a:srgbClr val="EAF0FF"/>
          </a:solidFill>
          <a:ln w="10160">
            <a:solidFill>
              <a:srgbClr val="D7E3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736592" y="2523744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SHELL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907792"/>
            <a:ext cx="0" cy="338328"/>
          </a:xfrm>
          <a:prstGeom prst="line">
            <a:avLst/>
          </a:prstGeom>
          <a:noFill/>
          <a:ln w="19050">
            <a:solidFill>
              <a:srgbClr val="326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377440" y="3246120"/>
            <a:ext cx="7424928" cy="0"/>
          </a:xfrm>
          <a:prstGeom prst="line">
            <a:avLst/>
          </a:prstGeom>
          <a:noFill/>
          <a:ln w="20320">
            <a:solidFill>
              <a:srgbClr val="DCE3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313432" y="3246120"/>
            <a:ext cx="0" cy="292608"/>
          </a:xfrm>
          <a:prstGeom prst="line">
            <a:avLst/>
          </a:prstGeom>
          <a:noFill/>
          <a:ln w="17780">
            <a:solidFill>
              <a:srgbClr val="DCE3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04088" y="3547872"/>
            <a:ext cx="3246120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77824" y="3703320"/>
            <a:ext cx="1060704" cy="256032"/>
          </a:xfrm>
          <a:prstGeom prst="roundRect">
            <a:avLst>
              <a:gd name="adj" fmla="val 32143"/>
            </a:avLst>
          </a:prstGeom>
          <a:solidFill>
            <a:srgbClr val="EAF0FF"/>
          </a:solidFill>
          <a:ln w="10160">
            <a:solidFill>
              <a:srgbClr val="EAF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950976" y="37124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ORDERING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" y="4041648"/>
            <a:ext cx="2852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DSD ORDER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" y="4398264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supplier lookup article rows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18104" y="4608576"/>
            <a:ext cx="658368" cy="256032"/>
          </a:xfrm>
          <a:prstGeom prst="roundRect">
            <a:avLst>
              <a:gd name="adj" fmla="val 32143"/>
            </a:avLst>
          </a:prstGeom>
          <a:solidFill>
            <a:srgbClr val="EAF0FF"/>
          </a:solidFill>
          <a:ln w="10160">
            <a:solidFill>
              <a:srgbClr val="EAF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126480" y="3246120"/>
            <a:ext cx="0" cy="292608"/>
          </a:xfrm>
          <a:prstGeom prst="line">
            <a:avLst/>
          </a:prstGeom>
          <a:noFill/>
          <a:ln w="17780">
            <a:solidFill>
              <a:srgbClr val="DCE3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517136" y="3547872"/>
            <a:ext cx="3246120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690872" y="3703320"/>
            <a:ext cx="1060704" cy="256032"/>
          </a:xfrm>
          <a:prstGeom prst="roundRect">
            <a:avLst>
              <a:gd name="adj" fmla="val 32143"/>
            </a:avLst>
          </a:prstGeom>
          <a:solidFill>
            <a:srgbClr val="FFF2DC"/>
          </a:solidFill>
          <a:ln w="10160">
            <a:solidFill>
              <a:srgbClr val="FFF2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4764024" y="37124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7A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ORDERING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700016" y="4041648"/>
            <a:ext cx="2852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ASSIGNMENT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700016" y="4398264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Stock-backed result rows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31152" y="4608576"/>
            <a:ext cx="658368" cy="256032"/>
          </a:xfrm>
          <a:prstGeom prst="roundRect">
            <a:avLst>
              <a:gd name="adj" fmla="val 32143"/>
            </a:avLst>
          </a:prstGeom>
          <a:solidFill>
            <a:srgbClr val="FFF2DC"/>
          </a:solidFill>
          <a:ln w="10160">
            <a:solidFill>
              <a:srgbClr val="FFF2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939528" y="3246120"/>
            <a:ext cx="0" cy="292608"/>
          </a:xfrm>
          <a:prstGeom prst="line">
            <a:avLst/>
          </a:prstGeom>
          <a:noFill/>
          <a:ln w="17780">
            <a:solidFill>
              <a:srgbClr val="DCE3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330184" y="3547872"/>
            <a:ext cx="3246120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503920" y="3703320"/>
            <a:ext cx="1060704" cy="256032"/>
          </a:xfrm>
          <a:prstGeom prst="roundRect">
            <a:avLst>
              <a:gd name="adj" fmla="val 32143"/>
            </a:avLst>
          </a:prstGeom>
          <a:solidFill>
            <a:srgbClr val="F0ECFF"/>
          </a:solidFill>
          <a:ln w="10160">
            <a:solidFill>
              <a:srgbClr val="F0E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8577072" y="37124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656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513064" y="4041648"/>
            <a:ext cx="2852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STEERING PARAMETER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513064" y="4398264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Page-local controls / state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744200" y="4608576"/>
            <a:ext cx="658368" cy="256032"/>
          </a:xfrm>
          <a:prstGeom prst="roundRect">
            <a:avLst>
              <a:gd name="adj" fmla="val 32143"/>
            </a:avLst>
          </a:prstGeom>
          <a:solidFill>
            <a:srgbClr val="F0ECFF"/>
          </a:solidFill>
          <a:ln w="10160">
            <a:solidFill>
              <a:srgbClr val="F0E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22376" y="5449824"/>
            <a:ext cx="10725912" cy="438912"/>
          </a:xfrm>
          <a:prstGeom prst="roundRect">
            <a:avLst>
              <a:gd name="adj" fmla="val 20833"/>
            </a:avLst>
          </a:prstGeom>
          <a:solidFill>
            <a:srgbClr val="EDF2F8"/>
          </a:solidFill>
          <a:ln w="1016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1755648" y="5550408"/>
            <a:ext cx="822960" cy="256032"/>
          </a:xfrm>
          <a:prstGeom prst="roundRect">
            <a:avLst>
              <a:gd name="adj" fmla="val 32143"/>
            </a:avLst>
          </a:prstGeom>
          <a:solidFill>
            <a:srgbClr val="E4F5EF"/>
          </a:solidFill>
          <a:ln w="10160">
            <a:solidFill>
              <a:srgbClr val="E4F5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 txBox="1"/>
          <p:nvPr/>
        </p:nvSpPr>
        <p:spPr>
          <a:xfrm>
            <a:off x="566928" y="6565392"/>
            <a:ext cx="8961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35" dirty="0">
                <a:solidFill>
                  <a:srgbClr val="8290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UFM DEMO  •  LEARNING JOURNEY</a:t>
            </a:r>
            <a:endParaRPr lang="en-US" sz="8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84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7D5BDD03-53DA-7B99-481E-7F5B6BE46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5072" y="203859"/>
            <a:ext cx="365792" cy="4145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LIVE WALKTHROUGH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&amp; live demonstration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69848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UI images below are project reference screenshots.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292608" cy="292608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1581912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61288" y="16002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75688"/>
            <a:ext cx="292608" cy="292608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31520" y="2084832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21031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Shell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578608"/>
            <a:ext cx="292608" cy="292608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31520" y="2587752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060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081528"/>
            <a:ext cx="292608" cy="292608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31520" y="3090672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" y="31089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DSD Order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584448"/>
            <a:ext cx="292608" cy="292608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" y="36118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functionality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087368"/>
            <a:ext cx="292608" cy="292608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31520" y="4096512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" y="41148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day / date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13632" y="1572768"/>
            <a:ext cx="292608" cy="292608"/>
          </a:xfrm>
          <a:prstGeom prst="ellipse">
            <a:avLst/>
          </a:prstGeom>
          <a:solidFill>
            <a:srgbClr val="7656DB"/>
          </a:solidFill>
          <a:ln w="12700">
            <a:solidFill>
              <a:srgbClr val="7656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913632" y="1581912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352544" y="1600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lookup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13632" y="2148840"/>
            <a:ext cx="292608" cy="292608"/>
          </a:xfrm>
          <a:prstGeom prst="ellipse">
            <a:avLst/>
          </a:prstGeom>
          <a:solidFill>
            <a:srgbClr val="7656DB"/>
          </a:solidFill>
          <a:ln w="12700">
            <a:solidFill>
              <a:srgbClr val="7656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3913632" y="2157984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352544" y="21762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results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913632" y="2724912"/>
            <a:ext cx="292608" cy="292608"/>
          </a:xfrm>
          <a:prstGeom prst="ellipse">
            <a:avLst/>
          </a:prstGeom>
          <a:solidFill>
            <a:srgbClr val="7656DB"/>
          </a:solidFill>
          <a:ln w="12700">
            <a:solidFill>
              <a:srgbClr val="7656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3913632" y="2734056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352544" y="275234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Assignment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13632" y="3300984"/>
            <a:ext cx="292608" cy="292608"/>
          </a:xfrm>
          <a:prstGeom prst="ellipse">
            <a:avLst/>
          </a:prstGeom>
          <a:solidFill>
            <a:srgbClr val="7656DB"/>
          </a:solidFill>
          <a:ln w="12700">
            <a:solidFill>
              <a:srgbClr val="7656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3913632" y="3310128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352544" y="332841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 day / date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913632" y="3877056"/>
            <a:ext cx="292608" cy="292608"/>
          </a:xfrm>
          <a:prstGeom prst="ellipse">
            <a:avLst/>
          </a:prstGeom>
          <a:solidFill>
            <a:srgbClr val="7656DB"/>
          </a:solidFill>
          <a:ln w="12700">
            <a:solidFill>
              <a:srgbClr val="7656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3913632" y="3886200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352544" y="39044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Steering Parameter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068312" y="1463040"/>
            <a:ext cx="4361688" cy="1883664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7178040" y="2990088"/>
            <a:ext cx="4142232" cy="0"/>
          </a:xfrm>
          <a:prstGeom prst="line">
            <a:avLst/>
          </a:prstGeom>
          <a:noFill/>
          <a:ln w="8890">
            <a:solidFill>
              <a:srgbClr val="DCE3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 txBox="1"/>
          <p:nvPr/>
        </p:nvSpPr>
        <p:spPr>
          <a:xfrm>
            <a:off x="7214616" y="306324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DSD Order result • UI reference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068312" y="3611880"/>
            <a:ext cx="4361688" cy="1883664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0"/>
          <p:cNvSpPr/>
          <p:nvPr/>
        </p:nvSpPr>
        <p:spPr>
          <a:xfrm>
            <a:off x="7178040" y="5138928"/>
            <a:ext cx="4142232" cy="0"/>
          </a:xfrm>
          <a:prstGeom prst="line">
            <a:avLst/>
          </a:prstGeom>
          <a:noFill/>
          <a:ln w="8890">
            <a:solidFill>
              <a:srgbClr val="DCE3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1"/>
          <p:cNvSpPr txBox="1"/>
          <p:nvPr/>
        </p:nvSpPr>
        <p:spPr>
          <a:xfrm>
            <a:off x="7214616" y="521208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Assignment • UI reference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731520" y="5074920"/>
            <a:ext cx="5916168" cy="576072"/>
          </a:xfrm>
          <a:prstGeom prst="roundRect">
            <a:avLst>
              <a:gd name="adj" fmla="val 17460"/>
            </a:avLst>
          </a:prstGeom>
          <a:solidFill>
            <a:srgbClr val="EAF0FF"/>
          </a:solidFill>
          <a:ln w="10160">
            <a:solidFill>
              <a:srgbClr val="D7E3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3"/>
          <p:cNvSpPr txBox="1"/>
          <p:nvPr/>
        </p:nvSpPr>
        <p:spPr>
          <a:xfrm>
            <a:off x="932688" y="52303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cue</a:t>
            </a:r>
            <a:endParaRPr lang="en-US" sz="900" dirty="0"/>
          </a:p>
        </p:txBody>
      </p:sp>
      <p:sp>
        <p:nvSpPr>
          <p:cNvPr id="48" name="Text 44"/>
          <p:cNvSpPr txBox="1"/>
          <p:nvPr/>
        </p:nvSpPr>
        <p:spPr>
          <a:xfrm>
            <a:off x="1874520" y="5175504"/>
            <a:ext cx="4535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out the Oracle-backed supplier lookup  rows.</a:t>
            </a:r>
            <a:endParaRPr lang="en-US" sz="1000" dirty="0"/>
          </a:p>
        </p:txBody>
      </p:sp>
      <p:sp>
        <p:nvSpPr>
          <p:cNvPr id="49" name="Text 45"/>
          <p:cNvSpPr txBox="1"/>
          <p:nvPr/>
        </p:nvSpPr>
        <p:spPr>
          <a:xfrm>
            <a:off x="749808" y="587959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walkthrough demonstrates UI and selected interactions; it is not an end-to-end persistent order workflow.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566928" y="6565392"/>
            <a:ext cx="8961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35" dirty="0">
                <a:solidFill>
                  <a:srgbClr val="8290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UFM DEMO  •  LEARNING JOURNEY</a:t>
            </a:r>
            <a:endParaRPr lang="en-US" sz="8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84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0B27487E-CA2E-F3E0-581B-F487A64AD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5072" y="195054"/>
            <a:ext cx="365792" cy="41456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376665BF-4E0B-BF8A-D4FB-8A03B32EF6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1" t="5367" b="27403"/>
          <a:stretch>
            <a:fillRect/>
          </a:stretch>
        </p:blipFill>
        <p:spPr>
          <a:xfrm>
            <a:off x="7178040" y="1544241"/>
            <a:ext cx="4142232" cy="153295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237B696-1302-25C3-7878-C9F3F8D38C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85" t="4641" r="1404" b="16768"/>
          <a:stretch>
            <a:fillRect/>
          </a:stretch>
        </p:blipFill>
        <p:spPr>
          <a:xfrm>
            <a:off x="7214616" y="3671510"/>
            <a:ext cx="4105656" cy="14946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ENGINEERING PRACTICE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 &amp; solution approach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69848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Wicket and integration checkpoints — framed as investigation patterns, not a defect log.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591056"/>
            <a:ext cx="3520440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50392" y="1755648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EAF0FF"/>
          </a:solidFill>
          <a:ln w="10160">
            <a:solidFill>
              <a:srgbClr val="EAF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50392" y="1810512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1773936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mismatch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23113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 ›  Compare HTML wicket:id with the component tree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60604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  ›  Keep markup and Scala IDs aligned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07992" y="1591056"/>
            <a:ext cx="3520440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72584" y="1755648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F0ECFF"/>
          </a:solidFill>
          <a:ln w="10160">
            <a:solidFill>
              <a:srgbClr val="F0E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672584" y="1810512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656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138928" y="1773936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compatibility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223113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 ›  Check HTML input type against Wicket field model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690872" y="260604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  ›  Use a component-compatible input type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330184" y="1591056"/>
            <a:ext cx="3520440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494776" y="1755648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E5F5F8"/>
          </a:solidFill>
          <a:ln w="10160">
            <a:solidFill>
              <a:srgbClr val="E5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494776" y="1810512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A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1773936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AJAX refresh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13064" y="223113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 ›  Verify updated component is attached to the page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513064" y="260604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  ›  Refresh the intended output container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3273552"/>
            <a:ext cx="3520440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50392" y="3438144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EAF0FF"/>
          </a:solidFill>
          <a:ln w="10160">
            <a:solidFill>
              <a:srgbClr val="EAF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850392" y="3493008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316736" y="3456432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ListView partial update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391363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 ›  Check the repeater’s parent markup / output markup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4288536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  ›  Target a refreshable wrapper when needed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07992" y="3273552"/>
            <a:ext cx="3520440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72584" y="3438144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F0ECFF"/>
          </a:solidFill>
          <a:ln w="10160">
            <a:solidFill>
              <a:srgbClr val="F0E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4672584" y="3493008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656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138928" y="3456432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lookup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690872" y="391363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 ›  Trace service → Oracle repository → JDBC settings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690872" y="4288536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  ›  Separate lookup boundary from mock rows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330184" y="3273552"/>
            <a:ext cx="3520440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10160">
            <a:solidFill>
              <a:srgbClr val="DCE3EF"/>
            </a:solidFill>
            <a:prstDash val="solid"/>
          </a:ln>
          <a:effectLst>
            <a:outerShdw blurRad="25400" dist="50800" dir="2700000" algn="bl" rotWithShape="0">
              <a:srgbClr val="71809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8494776" y="3438144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E5F5F8"/>
          </a:solidFill>
          <a:ln w="10160">
            <a:solidFill>
              <a:srgbClr val="E5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8494776" y="3493008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A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961120" y="3456432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debugging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513064" y="391363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 ›  Read the exception and follow the component/data path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8513064" y="4288536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  ›  Reproduce, isolate, then verify interaction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13232" y="5193792"/>
            <a:ext cx="10753344" cy="457200"/>
          </a:xfrm>
          <a:prstGeom prst="roundRect">
            <a:avLst>
              <a:gd name="adj" fmla="val 20000"/>
            </a:avLst>
          </a:prstGeom>
          <a:solidFill>
            <a:srgbClr val="FFF4E4"/>
          </a:solidFill>
          <a:ln w="10160">
            <a:solidFill>
              <a:srgbClr val="F2DF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896112" y="533095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47A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LEARNING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2057400" y="5276088"/>
            <a:ext cx="9125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Wicket screen is a contract across markup, components, models, behaviors and update targets.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49808" y="5888736"/>
            <a:ext cx="10561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Data-boundary challenge observed in this project: Oracle supplier lookup coexists with mock article / assignment data.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6565392"/>
            <a:ext cx="8961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35" dirty="0">
                <a:solidFill>
                  <a:srgbClr val="8290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UFM DEMO  •  LEARNING JOURNEY</a:t>
            </a:r>
            <a:endParaRPr lang="en-US" sz="8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84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FA61F29-D17B-72C4-74F8-679B88D12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7728" y="195054"/>
            <a:ext cx="365792" cy="4145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REFLECTION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3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learnings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69848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build helped make concrete — and what remains beyond the current implementation.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04088" y="1572768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32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THROUGH BUILDING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04672" y="2002536"/>
            <a:ext cx="128016" cy="128016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033272" y="1911096"/>
            <a:ext cx="211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 application structure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182112" y="19110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Pages, services, repositories and models</a:t>
            </a:r>
            <a:endParaRPr lang="en-US" sz="900" b="1" dirty="0"/>
          </a:p>
        </p:txBody>
      </p:sp>
      <p:sp>
        <p:nvSpPr>
          <p:cNvPr id="9" name="Shape 7"/>
          <p:cNvSpPr/>
          <p:nvPr/>
        </p:nvSpPr>
        <p:spPr>
          <a:xfrm>
            <a:off x="804672" y="2660904"/>
            <a:ext cx="128016" cy="128016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033272" y="2569464"/>
            <a:ext cx="211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Wicket component architecture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25694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Markup IDs, model binding, form controls</a:t>
            </a:r>
            <a:endParaRPr lang="en-US" sz="900" b="1" dirty="0"/>
          </a:p>
        </p:txBody>
      </p:sp>
      <p:sp>
        <p:nvSpPr>
          <p:cNvPr id="12" name="Shape 10"/>
          <p:cNvSpPr/>
          <p:nvPr/>
        </p:nvSpPr>
        <p:spPr>
          <a:xfrm>
            <a:off x="804672" y="3319272"/>
            <a:ext cx="128016" cy="128016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1033272" y="3227832"/>
            <a:ext cx="211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AJAX interaction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182112" y="32278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Partial-page update targets</a:t>
            </a:r>
            <a:endParaRPr lang="en-US" sz="900" b="1" dirty="0"/>
          </a:p>
        </p:txBody>
      </p:sp>
      <p:sp>
        <p:nvSpPr>
          <p:cNvPr id="15" name="Shape 13"/>
          <p:cNvSpPr/>
          <p:nvPr/>
        </p:nvSpPr>
        <p:spPr>
          <a:xfrm>
            <a:off x="804672" y="3977640"/>
            <a:ext cx="128016" cy="128016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1033272" y="3886200"/>
            <a:ext cx="211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access boundaries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182112" y="388620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JDBC supplier query repositories</a:t>
            </a:r>
            <a:endParaRPr lang="en-US" sz="900" b="1" dirty="0"/>
          </a:p>
        </p:txBody>
      </p:sp>
      <p:sp>
        <p:nvSpPr>
          <p:cNvPr id="18" name="Shape 16"/>
          <p:cNvSpPr/>
          <p:nvPr/>
        </p:nvSpPr>
        <p:spPr>
          <a:xfrm>
            <a:off x="804672" y="4636008"/>
            <a:ext cx="128016" cy="128016"/>
          </a:xfrm>
          <a:prstGeom prst="ellipse">
            <a:avLst/>
          </a:prstGeom>
          <a:solidFill>
            <a:srgbClr val="3268E8"/>
          </a:solidFill>
          <a:ln w="12700">
            <a:solidFill>
              <a:srgbClr val="326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1033272" y="4544568"/>
            <a:ext cx="211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design thinking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182112" y="45445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UI behavior from persistence</a:t>
            </a:r>
            <a:endParaRPr lang="en-US" sz="900" b="1" dirty="0"/>
          </a:p>
        </p:txBody>
      </p:sp>
      <p:sp>
        <p:nvSpPr>
          <p:cNvPr id="36" name="Shape 34"/>
          <p:cNvSpPr/>
          <p:nvPr/>
        </p:nvSpPr>
        <p:spPr>
          <a:xfrm>
            <a:off x="731520" y="5596128"/>
            <a:ext cx="10570464" cy="393192"/>
          </a:xfrm>
          <a:prstGeom prst="roundRect">
            <a:avLst>
              <a:gd name="adj" fmla="val 23256"/>
            </a:avLst>
          </a:prstGeom>
          <a:solidFill>
            <a:srgbClr val="F1EEFF"/>
          </a:solidFill>
          <a:ln w="10160">
            <a:solidFill>
              <a:srgbClr val="E4DD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932688" y="5705856"/>
            <a:ext cx="10149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656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PL/SQL is a learning/specification area in this demo; broader stored-program behavior is future scope.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6565392"/>
            <a:ext cx="8961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35" dirty="0">
                <a:solidFill>
                  <a:srgbClr val="8290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UFM DEMO  •  LEARNING JOURNEY</a:t>
            </a:r>
            <a:endParaRPr lang="en-US" sz="8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84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CBAA625-C113-3F44-B77E-EAA6CF54A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8814" y="195054"/>
            <a:ext cx="365792" cy="4145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56DB"/>
          </a:solidFill>
          <a:ln w="12700">
            <a:solidFill>
              <a:srgbClr val="7656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31520" y="6400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B9A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12  •  CONCLUSION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69848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Learning to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" y="2615184"/>
            <a:ext cx="1536192" cy="530352"/>
          </a:xfrm>
          <a:prstGeom prst="roundRect">
            <a:avLst>
              <a:gd name="adj" fmla="val 20690"/>
            </a:avLst>
          </a:prstGeom>
          <a:solidFill>
            <a:srgbClr val="172944"/>
          </a:solidFill>
          <a:ln w="10160">
            <a:solidFill>
              <a:srgbClr val="3042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95528" y="277977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35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22576" y="2880360"/>
            <a:ext cx="219456" cy="0"/>
          </a:xfrm>
          <a:prstGeom prst="line">
            <a:avLst/>
          </a:prstGeom>
          <a:noFill/>
          <a:ln w="21590">
            <a:solidFill>
              <a:srgbClr val="6689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624328" y="2615184"/>
            <a:ext cx="1536192" cy="530352"/>
          </a:xfrm>
          <a:prstGeom prst="roundRect">
            <a:avLst>
              <a:gd name="adj" fmla="val 20690"/>
            </a:avLst>
          </a:prstGeom>
          <a:solidFill>
            <a:srgbClr val="172944"/>
          </a:solidFill>
          <a:ln w="10160">
            <a:solidFill>
              <a:srgbClr val="3042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2670048" y="277977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35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97096" y="2880360"/>
            <a:ext cx="219456" cy="0"/>
          </a:xfrm>
          <a:prstGeom prst="line">
            <a:avLst/>
          </a:prstGeom>
          <a:noFill/>
          <a:ln w="21590">
            <a:solidFill>
              <a:srgbClr val="6689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498848" y="2615184"/>
            <a:ext cx="1536192" cy="530352"/>
          </a:xfrm>
          <a:prstGeom prst="roundRect">
            <a:avLst>
              <a:gd name="adj" fmla="val 20690"/>
            </a:avLst>
          </a:prstGeom>
          <a:solidFill>
            <a:srgbClr val="172944"/>
          </a:solidFill>
          <a:ln w="10160">
            <a:solidFill>
              <a:srgbClr val="3042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544568" y="277977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35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71616" y="2880360"/>
            <a:ext cx="219456" cy="0"/>
          </a:xfrm>
          <a:prstGeom prst="line">
            <a:avLst/>
          </a:prstGeom>
          <a:noFill/>
          <a:ln w="21590">
            <a:solidFill>
              <a:srgbClr val="6689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373368" y="2615184"/>
            <a:ext cx="1536192" cy="530352"/>
          </a:xfrm>
          <a:prstGeom prst="roundRect">
            <a:avLst>
              <a:gd name="adj" fmla="val 20690"/>
            </a:avLst>
          </a:prstGeom>
          <a:solidFill>
            <a:srgbClr val="172944"/>
          </a:solidFill>
          <a:ln w="10160">
            <a:solidFill>
              <a:srgbClr val="3042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19088" y="277977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35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946136" y="2880360"/>
            <a:ext cx="219456" cy="0"/>
          </a:xfrm>
          <a:prstGeom prst="line">
            <a:avLst/>
          </a:prstGeom>
          <a:noFill/>
          <a:ln w="21590">
            <a:solidFill>
              <a:srgbClr val="6689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47888" y="2615184"/>
            <a:ext cx="1536192" cy="530352"/>
          </a:xfrm>
          <a:prstGeom prst="roundRect">
            <a:avLst>
              <a:gd name="adj" fmla="val 20690"/>
            </a:avLst>
          </a:prstGeom>
          <a:solidFill>
            <a:srgbClr val="172944"/>
          </a:solidFill>
          <a:ln w="10160">
            <a:solidFill>
              <a:srgbClr val="3042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293608" y="277977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35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820656" y="2880360"/>
            <a:ext cx="219456" cy="0"/>
          </a:xfrm>
          <a:prstGeom prst="line">
            <a:avLst/>
          </a:prstGeom>
          <a:noFill/>
          <a:ln w="21590">
            <a:solidFill>
              <a:srgbClr val="7656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122408" y="2615184"/>
            <a:ext cx="1536192" cy="530352"/>
          </a:xfrm>
          <a:prstGeom prst="roundRect">
            <a:avLst>
              <a:gd name="adj" fmla="val 20690"/>
            </a:avLst>
          </a:prstGeom>
          <a:solidFill>
            <a:srgbClr val="29254A"/>
          </a:solidFill>
          <a:ln w="10160">
            <a:solidFill>
              <a:srgbClr val="3042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10168128" y="277977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35" dirty="0">
                <a:solidFill>
                  <a:srgbClr val="D5C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" y="3730752"/>
            <a:ext cx="107167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E5EC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learning journey helped me move beyond theoretical knowledge by applying Scala, Apache Wicket, and PL/SQL concepts in a practical application and understanding how the technologies work together in an enterprise application.”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" y="6190488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50" dirty="0">
                <a:solidFill>
                  <a:srgbClr val="8FA1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UFM DEMO  •  TECHNICAL DEMONSTRATION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561320" y="61904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FA1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12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BFCE5E5-1F74-C42D-514A-99E99AEC0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225516"/>
            <a:ext cx="365792" cy="41456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96832BF-C8C6-2DDE-14F3-370BF4965446}"/>
              </a:ext>
            </a:extLst>
          </p:cNvPr>
          <p:cNvSpPr txBox="1"/>
          <p:nvPr/>
        </p:nvSpPr>
        <p:spPr>
          <a:xfrm>
            <a:off x="7312312" y="4940786"/>
            <a:ext cx="26378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Thank You</a:t>
            </a:r>
            <a:endParaRPr lang="en-IN" sz="3200" dirty="0">
              <a:solidFill>
                <a:schemeClr val="accent4">
                  <a:lumMod val="20000"/>
                  <a:lumOff val="80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1157</Words>
  <Application>Microsoft Office PowerPoint</Application>
  <PresentationFormat>Widescreen</PresentationFormat>
  <Paragraphs>294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Metro UFM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&amp; Application Development Journey – Scala, Apache Wicket &amp; PL/SQL</dc:title>
  <dc:subject>Learning and application development journey</dc:subject>
  <dc:creator>Metro UFM Demo</dc:creator>
  <cp:lastModifiedBy>Azmeera Tharun</cp:lastModifiedBy>
  <cp:revision>4</cp:revision>
  <dcterms:created xsi:type="dcterms:W3CDTF">2026-10-01T06:44:46Z</dcterms:created>
  <dcterms:modified xsi:type="dcterms:W3CDTF">2026-10-01T10:35:47Z</dcterms:modified>
</cp:coreProperties>
</file>